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3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0841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43333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9966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140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340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2428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28166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242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1566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132034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2352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F2FB8D8-324A-42CF-9460-074C175AD93F}" type="datetimeFigureOut">
              <a:rPr lang="ru-KZ" smtClean="0"/>
              <a:t>01.10.2026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2F0B4C5-99A1-4ADF-B9D1-7A0F28785CF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78140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RESC-npJdOej6uX7_S4FbnpbuO7IRa57?usp=sharing" TargetMode="External"/><Relationship Id="rId2" Type="http://schemas.openxmlformats.org/officeDocument/2006/relationships/hyperlink" Target="https://colab.research.google.com/drive/1Igt3L_Z0P7GKTJt3Ll-OQ5uZiqdcItSh?usp=sharing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hyperlink" Target="https://colab.research.google.com/drive/1cwZ-7CIMtBQwu3LHNLbq86GI3_ECro5a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76D1FD-52C9-4275-B706-4AA429F5F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8118" y="882870"/>
            <a:ext cx="7496503" cy="2627093"/>
          </a:xfrm>
        </p:spPr>
        <p:txBody>
          <a:bodyPr/>
          <a:lstStyle/>
          <a:p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3B2EB5-C94E-4145-A416-D027CCFD9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8118" y="3509963"/>
            <a:ext cx="9418320" cy="1691640"/>
          </a:xfrm>
        </p:spPr>
        <p:txBody>
          <a:bodyPr>
            <a:normAutofit/>
          </a:bodyPr>
          <a:lstStyle/>
          <a:p>
            <a:r>
              <a:rPr lang="ru-RU" sz="3600" u="sng">
                <a:latin typeface="Artifakt Element Black" panose="020B0A03050000020004" pitchFamily="34" charset="-52"/>
                <a:ea typeface="Artifakt Element Black" panose="020B0A03050000020004" pitchFamily="34" charset="-52"/>
              </a:rPr>
              <a:t>№4 </a:t>
            </a:r>
            <a:r>
              <a:rPr lang="kk-KZ" sz="3600" u="sng">
                <a:latin typeface="Artifakt Element Black" panose="020B0A03050000020004" pitchFamily="34" charset="-52"/>
                <a:ea typeface="Artifakt Element Black" panose="020B0A03050000020004" pitchFamily="34" charset="-52"/>
              </a:rPr>
              <a:t>Практикалық жұмыс</a:t>
            </a:r>
            <a:br>
              <a:rPr lang="kk-KZ" sz="3600" u="sng">
                <a:latin typeface="Artifakt Element Black" panose="020B0A03050000020004" pitchFamily="34" charset="-52"/>
                <a:ea typeface="Artifakt Element Black" panose="020B0A03050000020004" pitchFamily="34" charset="-52"/>
              </a:rPr>
            </a:br>
            <a:r>
              <a:rPr lang="kk-KZ" sz="3600" u="sng">
                <a:latin typeface="Artifakt Element Black" panose="020B0A03050000020004" pitchFamily="34" charset="-52"/>
                <a:ea typeface="Artifakt Element Black" panose="020B0A03050000020004" pitchFamily="34" charset="-52"/>
              </a:rPr>
              <a:t>Жасанды интеллект негіздері</a:t>
            </a:r>
            <a:endParaRPr lang="ru-KZ" sz="3600" u="sng">
              <a:latin typeface="Artifakt Element Black" panose="020B0A03050000020004" pitchFamily="34" charset="-52"/>
              <a:ea typeface="Artifakt Element Black" panose="020B0A03050000020004" pitchFamily="34" charset="-52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0F80B1-E81E-4F48-9BF9-2FEE5518E4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2" t="21628" r="8173" b="26368"/>
          <a:stretch/>
        </p:blipFill>
        <p:spPr>
          <a:xfrm>
            <a:off x="2278118" y="882870"/>
            <a:ext cx="7496503" cy="26270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9304EF-7ED7-42CD-A419-E60713873BE6}"/>
              </a:ext>
            </a:extLst>
          </p:cNvPr>
          <p:cNvSpPr txBox="1"/>
          <p:nvPr/>
        </p:nvSpPr>
        <p:spPr>
          <a:xfrm>
            <a:off x="490339" y="6559188"/>
            <a:ext cx="3259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k-KZ" sz="1400">
                <a:latin typeface="Book Antiqua" panose="02040602050305030304" pitchFamily="18" charset="0"/>
              </a:rPr>
              <a:t>Орындаушы</a:t>
            </a:r>
            <a:r>
              <a:rPr lang="en-US" sz="1400">
                <a:latin typeface="Book Antiqua" panose="02040602050305030304" pitchFamily="18" charset="0"/>
              </a:rPr>
              <a:t>:</a:t>
            </a:r>
            <a:r>
              <a:rPr lang="kk-KZ" sz="1400">
                <a:latin typeface="Book Antiqua" panose="02040602050305030304" pitchFamily="18" charset="0"/>
              </a:rPr>
              <a:t>Насрулла Мұхамеджан</a:t>
            </a:r>
            <a:endParaRPr lang="ru-KZ" sz="1400"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E76BCF-D3B7-4A74-8A50-CCBE1B0D6A60}"/>
              </a:ext>
            </a:extLst>
          </p:cNvPr>
          <p:cNvSpPr txBox="1"/>
          <p:nvPr/>
        </p:nvSpPr>
        <p:spPr>
          <a:xfrm>
            <a:off x="8442436" y="6457890"/>
            <a:ext cx="3468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sz="1400">
                <a:latin typeface="Book Antiqua" panose="02040602050305030304" pitchFamily="18" charset="0"/>
              </a:rPr>
              <a:t>Тексеруші</a:t>
            </a:r>
            <a:r>
              <a:rPr lang="en-US" sz="1400">
                <a:latin typeface="Book Antiqua" panose="02040602050305030304" pitchFamily="18" charset="0"/>
              </a:rPr>
              <a:t>: </a:t>
            </a:r>
            <a:r>
              <a:rPr lang="kk-KZ" sz="1400">
                <a:latin typeface="Book Antiqua" panose="02040602050305030304" pitchFamily="18" charset="0"/>
              </a:rPr>
              <a:t>Тамара Кокеновна</a:t>
            </a:r>
            <a:endParaRPr lang="ru-KZ" sz="1400">
              <a:latin typeface="Book Antiqua" panose="020406020503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75EDFD-135A-4DDB-88C3-CD95C1744F3C}"/>
              </a:ext>
            </a:extLst>
          </p:cNvPr>
          <p:cNvSpPr txBox="1"/>
          <p:nvPr/>
        </p:nvSpPr>
        <p:spPr>
          <a:xfrm>
            <a:off x="1395663" y="5073124"/>
            <a:ext cx="9400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Қарсылас жағдайындағы іздеу және ойын ағаштары</a:t>
            </a:r>
            <a:endParaRPr lang="ru-KZ" sz="2800" i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8ADD79-C2B3-4D2D-87BC-0416D4F7F052}"/>
              </a:ext>
            </a:extLst>
          </p:cNvPr>
          <p:cNvSpPr txBox="1"/>
          <p:nvPr/>
        </p:nvSpPr>
        <p:spPr>
          <a:xfrm>
            <a:off x="490339" y="-56765"/>
            <a:ext cx="2277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/>
              <a:t>Астана 2026</a:t>
            </a:r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17927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9DFB24-6ED1-4031-930F-C0F9A131E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122" y="0"/>
            <a:ext cx="1763878" cy="121117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F9F06F-AA8A-4D20-9166-3BB6F546B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8122" y="120316"/>
            <a:ext cx="1763878" cy="12111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E4B36D-7413-424D-8980-CA3D14960F02}"/>
              </a:ext>
            </a:extLst>
          </p:cNvPr>
          <p:cNvSpPr txBox="1"/>
          <p:nvPr/>
        </p:nvSpPr>
        <p:spPr>
          <a:xfrm>
            <a:off x="208548" y="1451810"/>
            <a:ext cx="1090768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latin typeface="Cambria Math" panose="02040503050406030204" pitchFamily="18" charset="0"/>
                <a:ea typeface="Cambria Math" panose="02040503050406030204" pitchFamily="18" charset="0"/>
              </a:rPr>
              <a:t>Мақсаты және оқу нәтижелері</a:t>
            </a:r>
            <a:endParaRPr lang="ru-KZ" sz="3200" b="1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sz="3200">
                <a:latin typeface="Cambria Math" panose="02040503050406030204" pitchFamily="18" charset="0"/>
                <a:ea typeface="Cambria Math" panose="02040503050406030204" pitchFamily="18" charset="0"/>
              </a:rPr>
              <a:t>Мақсаты: жеткізу қызметтері арасындағы ойдан шығарылған бәсеке мысалында Minimax және Alpha–Beta бұтақтарды қию алгоритмдерін қолдану, Python тілінде жүрістерді қарастыру ретінің әсерін тексеру және тереңдігі шектелген іздеуде салмақталған бағалау функциясын пайдалану.</a:t>
            </a:r>
            <a:endParaRPr lang="ru-KZ" sz="32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040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F6E5FA-87C2-4A79-ADF8-B8F3164BC285}"/>
              </a:ext>
            </a:extLst>
          </p:cNvPr>
          <p:cNvSpPr txBox="1"/>
          <p:nvPr/>
        </p:nvSpPr>
        <p:spPr>
          <a:xfrm>
            <a:off x="0" y="0"/>
            <a:ext cx="6272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Жағдаят және кіріспе тапсырмалар</a:t>
            </a:r>
            <a:endParaRPr lang="ru-KZ" sz="2800">
              <a:solidFill>
                <a:schemeClr val="accent5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C456C1D6-F2FD-4670-AA1B-78A2AE6E57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91207"/>
              </p:ext>
            </p:extLst>
          </p:nvPr>
        </p:nvGraphicFramePr>
        <p:xfrm>
          <a:off x="272715" y="1452139"/>
          <a:ext cx="10491537" cy="287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316">
                  <a:extLst>
                    <a:ext uri="{9D8B030D-6E8A-4147-A177-3AD203B41FA5}">
                      <a16:colId xmlns:a16="http://schemas.microsoft.com/office/drawing/2014/main" val="2262274348"/>
                    </a:ext>
                  </a:extLst>
                </a:gridCol>
                <a:gridCol w="3561347">
                  <a:extLst>
                    <a:ext uri="{9D8B030D-6E8A-4147-A177-3AD203B41FA5}">
                      <a16:colId xmlns:a16="http://schemas.microsoft.com/office/drawing/2014/main" val="2562684967"/>
                    </a:ext>
                  </a:extLst>
                </a:gridCol>
                <a:gridCol w="2999874">
                  <a:extLst>
                    <a:ext uri="{9D8B030D-6E8A-4147-A177-3AD203B41FA5}">
                      <a16:colId xmlns:a16="http://schemas.microsoft.com/office/drawing/2014/main" val="971144240"/>
                    </a:ext>
                  </a:extLst>
                </a:gridCol>
              </a:tblGrid>
              <a:tr h="554349">
                <a:tc>
                  <a:txBody>
                    <a:bodyPr/>
                    <a:lstStyle/>
                    <a:p>
                      <a:br>
                        <a:rPr lang="kk-KZ"/>
                      </a:br>
                      <a:r>
                        <a:rPr lang="kk-KZ"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Стратегия</a:t>
                      </a:r>
                      <a:endParaRPr lang="ru-KZ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br>
                        <a:rPr lang="kk-KZ"/>
                      </a:br>
                      <a:r>
                        <a:rPr lang="kk-KZ" sz="2800"/>
                        <a:t>           </a:t>
                      </a:r>
                      <a:r>
                        <a:rPr lang="kk-KZ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 Пайдалар</a:t>
                      </a:r>
                      <a:endParaRPr lang="ru-KZ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br>
                        <a:rPr lang="kk-KZ"/>
                      </a:br>
                      <a:r>
                        <a:rPr lang="kk-KZ"/>
                        <a:t>       </a:t>
                      </a:r>
                      <a:r>
                        <a:rPr lang="kk-KZ"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Ең төменгі пайда</a:t>
                      </a:r>
                      <a:endParaRPr lang="ru-KZ"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09404"/>
                  </a:ext>
                </a:extLst>
              </a:tr>
              <a:tr h="687878">
                <a:tc>
                  <a:txBody>
                    <a:bodyPr/>
                    <a:lstStyle/>
                    <a:p>
                      <a:r>
                        <a:rPr lang="kk-KZ" sz="2000" b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А – төменгі баға</a:t>
                      </a:r>
                      <a:endParaRPr lang="ru-KZ" sz="2000" b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k-KZ" sz="2800"/>
                        <a:t>            8, 6, 4</a:t>
                      </a:r>
                      <a:endParaRPr lang="ru-KZ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k-KZ" sz="2800"/>
                        <a:t>                4</a:t>
                      </a:r>
                      <a:endParaRPr lang="ru-KZ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837592"/>
                  </a:ext>
                </a:extLst>
              </a:tr>
              <a:tr h="703598">
                <a:tc>
                  <a:txBody>
                    <a:bodyPr/>
                    <a:lstStyle/>
                    <a:p>
                      <a:r>
                        <a:rPr lang="kk-KZ" sz="2400"/>
                        <a:t>В – стандартты жеткізу</a:t>
                      </a:r>
                      <a:endParaRPr lang="ru-KZ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k-KZ" sz="28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ahoma" panose="020B0604030504040204" pitchFamily="34" charset="0"/>
                        </a:rPr>
                        <a:t>                3, 7, 5</a:t>
                      </a:r>
                      <a:endParaRPr lang="ru-KZ" sz="2800">
                        <a:latin typeface="Cambria Math" panose="02040503050406030204" pitchFamily="18" charset="0"/>
                        <a:ea typeface="Cambria Math" panose="02040503050406030204" pitchFamily="18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k-KZ" sz="2800"/>
                        <a:t>                3</a:t>
                      </a:r>
                      <a:endParaRPr lang="ru-KZ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361723"/>
                  </a:ext>
                </a:extLst>
              </a:tr>
              <a:tr h="687878">
                <a:tc>
                  <a:txBody>
                    <a:bodyPr/>
                    <a:lstStyle/>
                    <a:p>
                      <a:r>
                        <a:rPr lang="kk-KZ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С – жедел жеткізу</a:t>
                      </a:r>
                      <a:endParaRPr lang="ru-KZ" sz="240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k-KZ" sz="2800">
                          <a:latin typeface="Book Antiqua" panose="02040602050305030304" pitchFamily="18" charset="0"/>
                        </a:rPr>
                        <a:t>              2, 9, 1</a:t>
                      </a:r>
                      <a:endParaRPr lang="ru-KZ" sz="2800">
                        <a:latin typeface="Book Antiqua" panose="0204060205030503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k-KZ" sz="2800"/>
                        <a:t>                1</a:t>
                      </a:r>
                      <a:endParaRPr lang="ru-KZ" sz="2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1885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0D433C-43FF-499A-A25D-FD086F3970C1}"/>
              </a:ext>
            </a:extLst>
          </p:cNvPr>
          <p:cNvSpPr txBox="1"/>
          <p:nvPr/>
        </p:nvSpPr>
        <p:spPr>
          <a:xfrm>
            <a:off x="385010" y="4555958"/>
            <a:ext cx="94167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min(A) = 4; min(B) = 3; min(C) = 1. MAX: max(4, 3, 1) = 4. Таңдау — A стратегиясы; осы модельдегі ең қолайсыз пайдасы 4 млн теңге.</a:t>
            </a:r>
            <a:endParaRPr lang="ru-KZ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B8CAECA-B76F-49DA-8E47-EAFE81D0D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7158" y="0"/>
            <a:ext cx="1844842" cy="129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06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C4A3FE-A9E9-45BA-89C1-907F41D62300}"/>
              </a:ext>
            </a:extLst>
          </p:cNvPr>
          <p:cNvSpPr txBox="1"/>
          <p:nvPr/>
        </p:nvSpPr>
        <p:spPr>
          <a:xfrm>
            <a:off x="160422" y="0"/>
            <a:ext cx="1084823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5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1-тапсырма — тереңірек ағашта Minimax қолдану</a:t>
            </a:r>
            <a:br>
              <a:rPr lang="kk-KZ" sz="2400" b="1">
                <a:solidFill>
                  <a:schemeClr val="accent5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kk-KZ" b="1"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kk-KZ" b="1">
                <a:latin typeface="Cambria Math" panose="02040503050406030204" pitchFamily="18" charset="0"/>
                <a:ea typeface="Cambria Math" panose="02040503050406030204" pitchFamily="18" charset="0"/>
              </a:rPr>
            </a:br>
            <a:endParaRPr lang="ru-KZ" b="1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Төмендегі берілген ағашты пайдаланыңыз. A — MAX; B және C — MIN; D, E, F және G — MAX. H–O — терминалдық мәндер. Бұл ағаш үш стратегиясы бар кіріспе тапсырмадан бөлек қарастырылады.</a:t>
            </a:r>
            <a:endParaRPr lang="ru-KZ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br>
              <a:rPr lang="kk-KZ"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kk-KZ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A(MAX) → B(MIN) → D(MAX) → H:4, I:9</a:t>
            </a:r>
            <a:b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↳ E(MAX) → J:7, K:2</a:t>
            </a:r>
            <a:b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              ↳ C(MIN) → F(MAX) → L:3, M:8</a:t>
            </a:r>
            <a:b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↳ G(MAX) → N:6, O:1</a:t>
            </a:r>
            <a:endParaRPr lang="ru-KZ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endParaRPr lang="ru-K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8ED987-1B11-4C0C-BCAA-17BC20AD1790}"/>
              </a:ext>
            </a:extLst>
          </p:cNvPr>
          <p:cNvSpPr txBox="1"/>
          <p:nvPr/>
        </p:nvSpPr>
        <p:spPr>
          <a:xfrm>
            <a:off x="96253" y="5245154"/>
            <a:ext cx="3577389" cy="412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ambria Math" panose="02040503050406030204" pitchFamily="18" charset="0"/>
                <a:ea typeface="Cambria Math" panose="02040503050406030204" pitchFamily="18" charset="0"/>
              </a:rPr>
              <a:t>Оңтайлы жол: A → B → E → J.</a:t>
            </a:r>
            <a:endParaRPr lang="ru-KZ" sz="20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89F10-698A-49BA-852A-A1747D458CA7}"/>
              </a:ext>
            </a:extLst>
          </p:cNvPr>
          <p:cNvSpPr txBox="1"/>
          <p:nvPr/>
        </p:nvSpPr>
        <p:spPr>
          <a:xfrm>
            <a:off x="0" y="5657671"/>
            <a:ext cx="113738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ambria Math" panose="02040503050406030204" pitchFamily="18" charset="0"/>
                <a:ea typeface="Cambria Math" panose="02040503050406030204" pitchFamily="18" charset="0"/>
              </a:rPr>
              <a:t>Іздеу түбірден жапырақтарға түседі. Ата-ананың мәні балаларының мәндеріне тәуелді болғандықтан, нәтижелер рекурсиядан қайтқанда төменнен жоғары есептеледі.</a:t>
            </a:r>
            <a:endParaRPr lang="ru-KZ" sz="24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2673FC-8F26-4458-A7B9-61089CD7B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283" y="-1376"/>
            <a:ext cx="1700463" cy="1205450"/>
          </a:xfrm>
          <a:prstGeom prst="rect">
            <a:avLst/>
          </a:prstGeom>
        </p:spPr>
      </p:pic>
      <p:graphicFrame>
        <p:nvGraphicFramePr>
          <p:cNvPr id="8" name="Таблица 8">
            <a:extLst>
              <a:ext uri="{FF2B5EF4-FFF2-40B4-BE49-F238E27FC236}">
                <a16:creationId xmlns:a16="http://schemas.microsoft.com/office/drawing/2014/main" id="{83E4C0B9-1EFC-4218-BD80-44BAEE3B1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602604"/>
              </p:ext>
            </p:extLst>
          </p:nvPr>
        </p:nvGraphicFramePr>
        <p:xfrm>
          <a:off x="160421" y="3673642"/>
          <a:ext cx="11009601" cy="1382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4125">
                  <a:extLst>
                    <a:ext uri="{9D8B030D-6E8A-4147-A177-3AD203B41FA5}">
                      <a16:colId xmlns:a16="http://schemas.microsoft.com/office/drawing/2014/main" val="299725991"/>
                    </a:ext>
                  </a:extLst>
                </a:gridCol>
                <a:gridCol w="1120068">
                  <a:extLst>
                    <a:ext uri="{9D8B030D-6E8A-4147-A177-3AD203B41FA5}">
                      <a16:colId xmlns:a16="http://schemas.microsoft.com/office/drawing/2014/main" val="4091414761"/>
                    </a:ext>
                  </a:extLst>
                </a:gridCol>
                <a:gridCol w="1392568">
                  <a:extLst>
                    <a:ext uri="{9D8B030D-6E8A-4147-A177-3AD203B41FA5}">
                      <a16:colId xmlns:a16="http://schemas.microsoft.com/office/drawing/2014/main" val="1737091696"/>
                    </a:ext>
                  </a:extLst>
                </a:gridCol>
                <a:gridCol w="1392568">
                  <a:extLst>
                    <a:ext uri="{9D8B030D-6E8A-4147-A177-3AD203B41FA5}">
                      <a16:colId xmlns:a16="http://schemas.microsoft.com/office/drawing/2014/main" val="4219100860"/>
                    </a:ext>
                  </a:extLst>
                </a:gridCol>
                <a:gridCol w="1392568">
                  <a:extLst>
                    <a:ext uri="{9D8B030D-6E8A-4147-A177-3AD203B41FA5}">
                      <a16:colId xmlns:a16="http://schemas.microsoft.com/office/drawing/2014/main" val="4266576012"/>
                    </a:ext>
                  </a:extLst>
                </a:gridCol>
                <a:gridCol w="1392568">
                  <a:extLst>
                    <a:ext uri="{9D8B030D-6E8A-4147-A177-3AD203B41FA5}">
                      <a16:colId xmlns:a16="http://schemas.microsoft.com/office/drawing/2014/main" val="1797121087"/>
                    </a:ext>
                  </a:extLst>
                </a:gridCol>
                <a:gridCol w="1392568">
                  <a:extLst>
                    <a:ext uri="{9D8B030D-6E8A-4147-A177-3AD203B41FA5}">
                      <a16:colId xmlns:a16="http://schemas.microsoft.com/office/drawing/2014/main" val="3683824753"/>
                    </a:ext>
                  </a:extLst>
                </a:gridCol>
                <a:gridCol w="1392568">
                  <a:extLst>
                    <a:ext uri="{9D8B030D-6E8A-4147-A177-3AD203B41FA5}">
                      <a16:colId xmlns:a16="http://schemas.microsoft.com/office/drawing/2014/main" val="2623207268"/>
                    </a:ext>
                  </a:extLst>
                </a:gridCol>
              </a:tblGrid>
              <a:tr h="677932">
                <a:tc>
                  <a:txBody>
                    <a:bodyPr/>
                    <a:lstStyle/>
                    <a:p>
                      <a:r>
                        <a:rPr lang="kk-KZ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Ішкі түйін</a:t>
                      </a:r>
                      <a:endParaRPr lang="ru-KZ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   D</a:t>
                      </a:r>
                      <a:endParaRPr lang="ru-KZ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 E</a:t>
                      </a:r>
                      <a:endParaRPr lang="ru-KZ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F</a:t>
                      </a:r>
                      <a:endParaRPr lang="ru-KZ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 G</a:t>
                      </a:r>
                      <a:endParaRPr lang="ru-KZ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      B</a:t>
                      </a:r>
                      <a:endParaRPr lang="ru-KZ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</a:t>
                      </a:r>
                      <a:endParaRPr lang="ru-KZ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A</a:t>
                      </a:r>
                      <a:endParaRPr lang="ru-KZ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289197"/>
                  </a:ext>
                </a:extLst>
              </a:tr>
              <a:tr h="70452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Minimax </a:t>
                      </a:r>
                      <a:r>
                        <a:rPr lang="kk-KZ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мәні</a:t>
                      </a:r>
                      <a:endParaRPr lang="ru-KZ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</a:t>
                      </a:r>
                      <a:r>
                        <a:rPr lang="en-US" sz="2400"/>
                        <a:t>  9</a:t>
                      </a:r>
                      <a:endParaRPr lang="ru-KZ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      7</a:t>
                      </a:r>
                      <a:endParaRPr lang="ru-KZ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</a:t>
                      </a: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   8</a:t>
                      </a:r>
                      <a:endParaRPr lang="ru-KZ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   </a:t>
                      </a:r>
                      <a:r>
                        <a:rPr lang="en-US" sz="2400"/>
                        <a:t>6</a:t>
                      </a:r>
                      <a:endParaRPr lang="ru-KZ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       7</a:t>
                      </a:r>
                      <a:endParaRPr lang="ru-KZ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      </a:t>
                      </a:r>
                      <a:r>
                        <a:rPr lang="en-US" sz="2400"/>
                        <a:t> 6</a:t>
                      </a:r>
                      <a:endParaRPr lang="ru-KZ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        7</a:t>
                      </a:r>
                      <a:endParaRPr lang="ru-KZ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56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58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64D5F-8095-4381-BA5A-A4E7761D8463}"/>
              </a:ext>
            </a:extLst>
          </p:cNvPr>
          <p:cNvSpPr txBox="1"/>
          <p:nvPr/>
        </p:nvSpPr>
        <p:spPr>
          <a:xfrm>
            <a:off x="0" y="0"/>
            <a:ext cx="5967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тапсырма Alpha–Beta қадағалауы</a:t>
            </a:r>
            <a:endParaRPr lang="ru-KZ" sz="2400" b="1">
              <a:solidFill>
                <a:schemeClr val="accent5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19FC8-C899-4D19-904C-18A0776FED46}"/>
              </a:ext>
            </a:extLst>
          </p:cNvPr>
          <p:cNvSpPr txBox="1"/>
          <p:nvPr/>
        </p:nvSpPr>
        <p:spPr>
          <a:xfrm>
            <a:off x="0" y="461665"/>
            <a:ext cx="11101137" cy="657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α және β кестеде түйінге кірген сәтте тіркелген. MAX α-ны, MIN β-ны жаңартады. α ≥ β болғанда қалған балалар қаралмайды.</a:t>
            </a:r>
            <a:endParaRPr lang="ru-KZ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3D1D0C-D881-48FB-8766-0AA1A0818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316" y="0"/>
            <a:ext cx="1685684" cy="1394911"/>
          </a:xfrm>
          <a:prstGeom prst="rect">
            <a:avLst/>
          </a:prstGeom>
        </p:spPr>
      </p:pic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BF7AD83F-3EF4-496A-AEE7-ABC4FAB96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46375"/>
              </p:ext>
            </p:extLst>
          </p:nvPr>
        </p:nvGraphicFramePr>
        <p:xfrm>
          <a:off x="0" y="1726015"/>
          <a:ext cx="11101138" cy="43702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8418">
                  <a:extLst>
                    <a:ext uri="{9D8B030D-6E8A-4147-A177-3AD203B41FA5}">
                      <a16:colId xmlns:a16="http://schemas.microsoft.com/office/drawing/2014/main" val="164639142"/>
                    </a:ext>
                  </a:extLst>
                </a:gridCol>
                <a:gridCol w="1627120">
                  <a:extLst>
                    <a:ext uri="{9D8B030D-6E8A-4147-A177-3AD203B41FA5}">
                      <a16:colId xmlns:a16="http://schemas.microsoft.com/office/drawing/2014/main" val="1377300539"/>
                    </a:ext>
                  </a:extLst>
                </a:gridCol>
                <a:gridCol w="1627120">
                  <a:extLst>
                    <a:ext uri="{9D8B030D-6E8A-4147-A177-3AD203B41FA5}">
                      <a16:colId xmlns:a16="http://schemas.microsoft.com/office/drawing/2014/main" val="459624308"/>
                    </a:ext>
                  </a:extLst>
                </a:gridCol>
                <a:gridCol w="1627120">
                  <a:extLst>
                    <a:ext uri="{9D8B030D-6E8A-4147-A177-3AD203B41FA5}">
                      <a16:colId xmlns:a16="http://schemas.microsoft.com/office/drawing/2014/main" val="605211261"/>
                    </a:ext>
                  </a:extLst>
                </a:gridCol>
                <a:gridCol w="1627120">
                  <a:extLst>
                    <a:ext uri="{9D8B030D-6E8A-4147-A177-3AD203B41FA5}">
                      <a16:colId xmlns:a16="http://schemas.microsoft.com/office/drawing/2014/main" val="929526504"/>
                    </a:ext>
                  </a:extLst>
                </a:gridCol>
                <a:gridCol w="1627120">
                  <a:extLst>
                    <a:ext uri="{9D8B030D-6E8A-4147-A177-3AD203B41FA5}">
                      <a16:colId xmlns:a16="http://schemas.microsoft.com/office/drawing/2014/main" val="4030830847"/>
                    </a:ext>
                  </a:extLst>
                </a:gridCol>
                <a:gridCol w="1627120">
                  <a:extLst>
                    <a:ext uri="{9D8B030D-6E8A-4147-A177-3AD203B41FA5}">
                      <a16:colId xmlns:a16="http://schemas.microsoft.com/office/drawing/2014/main" val="976729573"/>
                    </a:ext>
                  </a:extLst>
                </a:gridCol>
              </a:tblGrid>
              <a:tr h="94581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Түйін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Түрі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Кіру α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Кіру β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Қаралған балалар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Мәні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Қиылған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752994"/>
                  </a:ext>
                </a:extLst>
              </a:tr>
              <a:tr h="460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MAX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−∞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+∞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B, C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Жоқ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570479"/>
                  </a:ext>
                </a:extLst>
              </a:tr>
              <a:tr h="460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MIN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−∞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+∞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D, E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Жоқ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782712"/>
                  </a:ext>
                </a:extLst>
              </a:tr>
              <a:tr h="460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MAX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−∞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+∞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H, I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9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Жоқ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846780"/>
                  </a:ext>
                </a:extLst>
              </a:tr>
              <a:tr h="460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MAX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−∞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9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J, K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Жоқ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163934"/>
                  </a:ext>
                </a:extLst>
              </a:tr>
              <a:tr h="460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MIN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+∞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F, G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Жоқ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2154221"/>
                  </a:ext>
                </a:extLst>
              </a:tr>
              <a:tr h="460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MAX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+∞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L, M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Жоқ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998205"/>
                  </a:ext>
                </a:extLst>
              </a:tr>
              <a:tr h="4607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MAX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N, O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6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Жоқ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266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61284E-7CE7-4224-94F2-64D29FE799ED}"/>
              </a:ext>
            </a:extLst>
          </p:cNvPr>
          <p:cNvSpPr txBox="1"/>
          <p:nvPr/>
        </p:nvSpPr>
        <p:spPr>
          <a:xfrm rot="10800000" flipV="1">
            <a:off x="449180" y="6087160"/>
            <a:ext cx="7828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mbria Math" panose="02040503050406030204" pitchFamily="18" charset="0"/>
                <a:ea typeface="Cambria Math" panose="02040503050406030204" pitchFamily="18" charset="0"/>
              </a:rPr>
              <a:t>Өту реті: A → B → D → H → I → E → J → K → C → F → L → M → G → N → O.</a:t>
            </a:r>
            <a:endParaRPr lang="ru-KZ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57E018-6DD3-4446-822C-558F699E4C8D}"/>
              </a:ext>
            </a:extLst>
          </p:cNvPr>
          <p:cNvSpPr txBox="1"/>
          <p:nvPr/>
        </p:nvSpPr>
        <p:spPr>
          <a:xfrm>
            <a:off x="0" y="1119393"/>
            <a:ext cx="25827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sz="2400" b="1">
                <a:latin typeface="Cambria Math" panose="02040503050406030204" pitchFamily="18" charset="0"/>
                <a:ea typeface="Cambria Math" panose="02040503050406030204" pitchFamily="18" charset="0"/>
              </a:rPr>
              <a:t>Солдан оңға өту</a:t>
            </a:r>
            <a:endParaRPr lang="ru-KZ" sz="2400" b="1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147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5E7C65C8-B31D-44EF-BAB6-9501BA310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183206"/>
              </p:ext>
            </p:extLst>
          </p:nvPr>
        </p:nvGraphicFramePr>
        <p:xfrm>
          <a:off x="0" y="612712"/>
          <a:ext cx="11187953" cy="3891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8279">
                  <a:extLst>
                    <a:ext uri="{9D8B030D-6E8A-4147-A177-3AD203B41FA5}">
                      <a16:colId xmlns:a16="http://schemas.microsoft.com/office/drawing/2014/main" val="2706532315"/>
                    </a:ext>
                  </a:extLst>
                </a:gridCol>
                <a:gridCol w="1598279">
                  <a:extLst>
                    <a:ext uri="{9D8B030D-6E8A-4147-A177-3AD203B41FA5}">
                      <a16:colId xmlns:a16="http://schemas.microsoft.com/office/drawing/2014/main" val="2027875389"/>
                    </a:ext>
                  </a:extLst>
                </a:gridCol>
                <a:gridCol w="1598279">
                  <a:extLst>
                    <a:ext uri="{9D8B030D-6E8A-4147-A177-3AD203B41FA5}">
                      <a16:colId xmlns:a16="http://schemas.microsoft.com/office/drawing/2014/main" val="444062073"/>
                    </a:ext>
                  </a:extLst>
                </a:gridCol>
                <a:gridCol w="1598279">
                  <a:extLst>
                    <a:ext uri="{9D8B030D-6E8A-4147-A177-3AD203B41FA5}">
                      <a16:colId xmlns:a16="http://schemas.microsoft.com/office/drawing/2014/main" val="2224678809"/>
                    </a:ext>
                  </a:extLst>
                </a:gridCol>
                <a:gridCol w="1598279">
                  <a:extLst>
                    <a:ext uri="{9D8B030D-6E8A-4147-A177-3AD203B41FA5}">
                      <a16:colId xmlns:a16="http://schemas.microsoft.com/office/drawing/2014/main" val="151361169"/>
                    </a:ext>
                  </a:extLst>
                </a:gridCol>
                <a:gridCol w="1598279">
                  <a:extLst>
                    <a:ext uri="{9D8B030D-6E8A-4147-A177-3AD203B41FA5}">
                      <a16:colId xmlns:a16="http://schemas.microsoft.com/office/drawing/2014/main" val="686322714"/>
                    </a:ext>
                  </a:extLst>
                </a:gridCol>
                <a:gridCol w="1598279">
                  <a:extLst>
                    <a:ext uri="{9D8B030D-6E8A-4147-A177-3AD203B41FA5}">
                      <a16:colId xmlns:a16="http://schemas.microsoft.com/office/drawing/2014/main" val="451569492"/>
                    </a:ext>
                  </a:extLst>
                </a:gridCol>
              </a:tblGrid>
              <a:tr h="8824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Түйін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Түрі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Кіру α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Кіру β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Қаралған балалар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Мәні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Қиылған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084907"/>
                  </a:ext>
                </a:extLst>
              </a:tr>
              <a:tr h="429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MAX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−∞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+∞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C, B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Жоқ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40033"/>
                  </a:ext>
                </a:extLst>
              </a:tr>
              <a:tr h="429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MIN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−∞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+∞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G, F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Жоқ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262952"/>
                  </a:ext>
                </a:extLst>
              </a:tr>
              <a:tr h="429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MAX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−∞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+∞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O, N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Жоқ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366425"/>
                  </a:ext>
                </a:extLst>
              </a:tr>
              <a:tr h="429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MAX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−∞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M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8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L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308745"/>
                  </a:ext>
                </a:extLst>
              </a:tr>
              <a:tr h="429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MIN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+∞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E, D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Жоқ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849792"/>
                  </a:ext>
                </a:extLst>
              </a:tr>
              <a:tr h="429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MAX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+∞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K, J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Жоқ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868559"/>
                  </a:ext>
                </a:extLst>
              </a:tr>
              <a:tr h="4298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MAX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I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9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H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8271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B78618A-F5C2-4CA2-A4D4-E1C3A339379A}"/>
              </a:ext>
            </a:extLst>
          </p:cNvPr>
          <p:cNvSpPr txBox="1"/>
          <p:nvPr/>
        </p:nvSpPr>
        <p:spPr>
          <a:xfrm>
            <a:off x="0" y="0"/>
            <a:ext cx="3481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sz="20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Оңнан солға өту</a:t>
            </a:r>
            <a:endParaRPr lang="ru-KZ" sz="20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83623-520A-41A7-A41A-FAF7C334FC86}"/>
              </a:ext>
            </a:extLst>
          </p:cNvPr>
          <p:cNvSpPr txBox="1"/>
          <p:nvPr/>
        </p:nvSpPr>
        <p:spPr>
          <a:xfrm>
            <a:off x="0" y="4645413"/>
            <a:ext cx="7507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Cambria Math" panose="02040503050406030204" pitchFamily="18" charset="0"/>
                <a:ea typeface="Cambria Math" panose="02040503050406030204" pitchFamily="18" charset="0"/>
              </a:rPr>
              <a:t>Өту реті: A → C → G → O → N → F → M → B → E → K → J → D → I.</a:t>
            </a:r>
            <a:endParaRPr lang="ru-KZ" sz="200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EDCF16-E219-46D1-9796-04A84B1C4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162" y="5238500"/>
            <a:ext cx="2128838" cy="1619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1A0870-1944-4105-976F-37F8D7CFB725}"/>
              </a:ext>
            </a:extLst>
          </p:cNvPr>
          <p:cNvSpPr txBox="1"/>
          <p:nvPr/>
        </p:nvSpPr>
        <p:spPr>
          <a:xfrm>
            <a:off x="0" y="5045523"/>
            <a:ext cx="101546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Жауап: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F-де M = 8 алынған соң α = 8 &gt;= β = 6: L қиылады. D-де I = 9 алынған соң α = 9 &gt;= β = 7: H қиылады. Барлығы 13 түйін, оның ішінде 6 жапырақ қаралды. Қиылған L және H рекурсивті шақыру ретінде саналмайды.</a:t>
            </a:r>
            <a:endParaRPr lang="ru-KZ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644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BDBD7A-E31A-4378-9917-79AAA9861688}"/>
              </a:ext>
            </a:extLst>
          </p:cNvPr>
          <p:cNvSpPr txBox="1"/>
          <p:nvPr/>
        </p:nvSpPr>
        <p:spPr>
          <a:xfrm>
            <a:off x="112295" y="0"/>
            <a:ext cx="7074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</a:rPr>
              <a:t>3-тапсырма — Python тіліндегі эксперимент</a:t>
            </a:r>
            <a:endParaRPr lang="ru-KZ" sz="2400">
              <a:solidFill>
                <a:schemeClr val="accent5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6C80520-7B80-4CB1-BF71-7D28AAEF6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011839"/>
              </p:ext>
            </p:extLst>
          </p:nvPr>
        </p:nvGraphicFramePr>
        <p:xfrm>
          <a:off x="112295" y="802104"/>
          <a:ext cx="10635918" cy="22486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653">
                  <a:extLst>
                    <a:ext uri="{9D8B030D-6E8A-4147-A177-3AD203B41FA5}">
                      <a16:colId xmlns:a16="http://schemas.microsoft.com/office/drawing/2014/main" val="255002447"/>
                    </a:ext>
                  </a:extLst>
                </a:gridCol>
                <a:gridCol w="1772653">
                  <a:extLst>
                    <a:ext uri="{9D8B030D-6E8A-4147-A177-3AD203B41FA5}">
                      <a16:colId xmlns:a16="http://schemas.microsoft.com/office/drawing/2014/main" val="1510033981"/>
                    </a:ext>
                  </a:extLst>
                </a:gridCol>
                <a:gridCol w="1772653">
                  <a:extLst>
                    <a:ext uri="{9D8B030D-6E8A-4147-A177-3AD203B41FA5}">
                      <a16:colId xmlns:a16="http://schemas.microsoft.com/office/drawing/2014/main" val="2234607681"/>
                    </a:ext>
                  </a:extLst>
                </a:gridCol>
                <a:gridCol w="1772653">
                  <a:extLst>
                    <a:ext uri="{9D8B030D-6E8A-4147-A177-3AD203B41FA5}">
                      <a16:colId xmlns:a16="http://schemas.microsoft.com/office/drawing/2014/main" val="2997546613"/>
                    </a:ext>
                  </a:extLst>
                </a:gridCol>
                <a:gridCol w="1772653">
                  <a:extLst>
                    <a:ext uri="{9D8B030D-6E8A-4147-A177-3AD203B41FA5}">
                      <a16:colId xmlns:a16="http://schemas.microsoft.com/office/drawing/2014/main" val="550273700"/>
                    </a:ext>
                  </a:extLst>
                </a:gridCol>
                <a:gridCol w="1772653">
                  <a:extLst>
                    <a:ext uri="{9D8B030D-6E8A-4147-A177-3AD203B41FA5}">
                      <a16:colId xmlns:a16="http://schemas.microsoft.com/office/drawing/2014/main" val="2803973458"/>
                    </a:ext>
                  </a:extLst>
                </a:gridCol>
              </a:tblGrid>
              <a:tr h="7379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Өту бағыты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Minimax мәні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Minimax шақыру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Alpha–Beta мәні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Alpha–Beta шақыру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Қиылған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108941"/>
                  </a:ext>
                </a:extLst>
              </a:tr>
              <a:tr h="7553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Солдан оңға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15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15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Жоқ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172421"/>
                  </a:ext>
                </a:extLst>
              </a:tr>
              <a:tr h="7553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Оңнан солға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15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7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13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L, H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59724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9785C5D-1DA7-4025-8E1E-554C43A8964C}"/>
              </a:ext>
            </a:extLst>
          </p:cNvPr>
          <p:cNvSpPr txBox="1"/>
          <p:nvPr/>
        </p:nvSpPr>
        <p:spPr>
          <a:xfrm>
            <a:off x="272715" y="3299429"/>
            <a:ext cx="9914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sz="2400">
                <a:highlight>
                  <a:srgbClr val="FFFF0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Жауап</a:t>
            </a:r>
            <a:r>
              <a:rPr lang="ru-RU" sz="240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kk-KZ" sz="240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Оңнан солға өту 2 шақыруды үнемдед</a:t>
            </a:r>
            <a:r>
              <a:rPr lang="kk-KZ" sz="2400">
                <a:latin typeface="Cambria" panose="02040503050406030204" pitchFamily="18" charset="0"/>
                <a:ea typeface="Cambria" panose="02040503050406030204" pitchFamily="18" charset="0"/>
              </a:rPr>
              <a:t>і. </a:t>
            </a:r>
            <a:r>
              <a:rPr lang="en-US" sz="2400">
                <a:latin typeface="Cambria" panose="02040503050406030204" pitchFamily="18" charset="0"/>
                <a:ea typeface="Cambria" panose="02040503050406030204" pitchFamily="18" charset="0"/>
              </a:rPr>
              <a:t>Өту реті дұрыс Minimax мәнін өзгертпейді: түбір барлық жағдайда 7. Бұл ағашта тиімді болған бағыт басқа ағашта міндетті түрде тиімді болмайды</a:t>
            </a:r>
            <a:endParaRPr lang="ru-KZ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240944-D0E4-42B9-8C15-B8E03F671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736" y="4766984"/>
            <a:ext cx="2128838" cy="209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3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412D7C-CE18-410F-808A-25FF64AF26F7}"/>
              </a:ext>
            </a:extLst>
          </p:cNvPr>
          <p:cNvSpPr txBox="1"/>
          <p:nvPr/>
        </p:nvSpPr>
        <p:spPr>
          <a:xfrm>
            <a:off x="112295" y="44571"/>
            <a:ext cx="7555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5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4-тапсырма — тереңдігі шектелген іздеудегі бағалау</a:t>
            </a:r>
            <a:endParaRPr lang="ru-KZ" sz="2400">
              <a:solidFill>
                <a:schemeClr val="accent5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B9CFD5-D4BE-4F79-B651-02FC85F3E489}"/>
              </a:ext>
            </a:extLst>
          </p:cNvPr>
          <p:cNvSpPr txBox="1"/>
          <p:nvPr/>
        </p:nvSpPr>
        <p:spPr>
          <a:xfrm>
            <a:off x="64168" y="506236"/>
            <a:ext cx="5261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Eval(s) = w₁ × Margin + w₂ × Reliability + w₃ × Capacity</a:t>
            </a:r>
            <a:endParaRPr lang="ru-KZ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210B6CE-1DEC-4EBB-B8C1-F4D1D5C32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665688"/>
              </p:ext>
            </p:extLst>
          </p:nvPr>
        </p:nvGraphicFramePr>
        <p:xfrm>
          <a:off x="176460" y="1171073"/>
          <a:ext cx="10975636" cy="15962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3909">
                  <a:extLst>
                    <a:ext uri="{9D8B030D-6E8A-4147-A177-3AD203B41FA5}">
                      <a16:colId xmlns:a16="http://schemas.microsoft.com/office/drawing/2014/main" val="391968899"/>
                    </a:ext>
                  </a:extLst>
                </a:gridCol>
                <a:gridCol w="2743909">
                  <a:extLst>
                    <a:ext uri="{9D8B030D-6E8A-4147-A177-3AD203B41FA5}">
                      <a16:colId xmlns:a16="http://schemas.microsoft.com/office/drawing/2014/main" val="724472613"/>
                    </a:ext>
                  </a:extLst>
                </a:gridCol>
                <a:gridCol w="2743909">
                  <a:extLst>
                    <a:ext uri="{9D8B030D-6E8A-4147-A177-3AD203B41FA5}">
                      <a16:colId xmlns:a16="http://schemas.microsoft.com/office/drawing/2014/main" val="2230783776"/>
                    </a:ext>
                  </a:extLst>
                </a:gridCol>
                <a:gridCol w="2743909">
                  <a:extLst>
                    <a:ext uri="{9D8B030D-6E8A-4147-A177-3AD203B41FA5}">
                      <a16:colId xmlns:a16="http://schemas.microsoft.com/office/drawing/2014/main" val="3828612804"/>
                    </a:ext>
                  </a:extLst>
                </a:gridCol>
              </a:tblGrid>
              <a:tr h="5320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Күй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Margin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Reliability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Capacity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034349"/>
                  </a:ext>
                </a:extLst>
              </a:tr>
              <a:tr h="5320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7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636554"/>
                  </a:ext>
                </a:extLst>
              </a:tr>
              <a:tr h="5320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endParaRPr lang="ru-KZ" sz="24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5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ru-KZ" sz="2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9911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32294A-DAAD-4F48-B591-E6B7DC49A604}"/>
              </a:ext>
            </a:extLst>
          </p:cNvPr>
          <p:cNvSpPr txBox="1"/>
          <p:nvPr/>
        </p:nvSpPr>
        <p:spPr>
          <a:xfrm>
            <a:off x="625642" y="2767280"/>
            <a:ext cx="73633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Бастапқы салмақтар (0.5, 0.3, 0.2)</a:t>
            </a:r>
            <a:br>
              <a:rPr lang="en-US" sz="2000"/>
            </a:br>
            <a:r>
              <a:rPr lang="en-US" sz="2000"/>
              <a:t>Eval(X) = 0.5 × 8 + 0.3 × 7 + 0.2 × 2 = 4 + 2.1 + 0.4 = 6.5.</a:t>
            </a:r>
            <a:br>
              <a:rPr lang="en-US" sz="2000"/>
            </a:br>
            <a:r>
              <a:rPr lang="en-US" sz="2000"/>
              <a:t>Eval(Y) = 0.5 × 5 + 0.3 × 5 + 0.2 × 8 = 2.5 + 1.5 + 1.6 = 5.6.</a:t>
            </a:r>
            <a:br>
              <a:rPr lang="en-US" sz="2000"/>
            </a:br>
            <a:r>
              <a:rPr lang="en-US" sz="2000"/>
              <a:t>MAX X күйін таңдайды: 6.5 &gt; 5.6.</a:t>
            </a:r>
            <a:endParaRPr lang="ru-KZ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69BFE5-A573-4367-AEA6-79FCD507098B}"/>
              </a:ext>
            </a:extLst>
          </p:cNvPr>
          <p:cNvSpPr txBox="1"/>
          <p:nvPr/>
        </p:nvSpPr>
        <p:spPr>
          <a:xfrm>
            <a:off x="336883" y="4328539"/>
            <a:ext cx="10395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Capacity салмағы 0.5-ке артқанда қалған салмақтардың қосындысы 0.8-ден 0.5-ке азаяды. Пропорционалды коэффициент: 0.5 / 0.8 = 0.625.</a:t>
            </a:r>
            <a:br>
              <a:rPr lang="en-US" sz="2400"/>
            </a:br>
            <a:r>
              <a:rPr lang="en-US" sz="2400"/>
              <a:t>w₁ = 0.5 × 0.625 = 0.3125; w₂ = 0.3 × 0.625 = 0.1875.</a:t>
            </a:r>
            <a:endParaRPr lang="ru-KZ" sz="240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F92A5BA-9477-4BE5-8537-AD3453FD9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6313" y="4729162"/>
            <a:ext cx="2265687" cy="212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811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9D190BB-B1A0-4C32-9385-8DB6BC7912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81431"/>
              </p:ext>
            </p:extLst>
          </p:nvPr>
        </p:nvGraphicFramePr>
        <p:xfrm>
          <a:off x="269105" y="272187"/>
          <a:ext cx="10936776" cy="21430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34194">
                  <a:extLst>
                    <a:ext uri="{9D8B030D-6E8A-4147-A177-3AD203B41FA5}">
                      <a16:colId xmlns:a16="http://schemas.microsoft.com/office/drawing/2014/main" val="3330670133"/>
                    </a:ext>
                  </a:extLst>
                </a:gridCol>
                <a:gridCol w="2734194">
                  <a:extLst>
                    <a:ext uri="{9D8B030D-6E8A-4147-A177-3AD203B41FA5}">
                      <a16:colId xmlns:a16="http://schemas.microsoft.com/office/drawing/2014/main" val="3831413391"/>
                    </a:ext>
                  </a:extLst>
                </a:gridCol>
                <a:gridCol w="2734194">
                  <a:extLst>
                    <a:ext uri="{9D8B030D-6E8A-4147-A177-3AD203B41FA5}">
                      <a16:colId xmlns:a16="http://schemas.microsoft.com/office/drawing/2014/main" val="2633357134"/>
                    </a:ext>
                  </a:extLst>
                </a:gridCol>
                <a:gridCol w="2734194">
                  <a:extLst>
                    <a:ext uri="{9D8B030D-6E8A-4147-A177-3AD203B41FA5}">
                      <a16:colId xmlns:a16="http://schemas.microsoft.com/office/drawing/2014/main" val="501778977"/>
                    </a:ext>
                  </a:extLst>
                </a:gridCol>
              </a:tblGrid>
              <a:tr h="7143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Салмақтар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Eval(X)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Eval(Y)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Таңдау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9721945"/>
                  </a:ext>
                </a:extLst>
              </a:tr>
              <a:tr h="7143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0.5, 0.3, 0.2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6.5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5.6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X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110402"/>
                  </a:ext>
                </a:extLst>
              </a:tr>
              <a:tr h="7143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0.3125, 0.1875, 0.5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4.8125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6.5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Y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381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14EADA0-36E2-425F-9288-A8957441EC4F}"/>
              </a:ext>
            </a:extLst>
          </p:cNvPr>
          <p:cNvSpPr txBox="1"/>
          <p:nvPr/>
        </p:nvSpPr>
        <p:spPr>
          <a:xfrm>
            <a:off x="269105" y="2415262"/>
            <a:ext cx="49445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Өзгертілген салмақтар (0.3125, 0.1875, 0.5)</a:t>
            </a:r>
            <a:br>
              <a:rPr lang="en-US" sz="2000"/>
            </a:br>
            <a:r>
              <a:rPr lang="en-US" sz="2000"/>
              <a:t>Eval(X) = 0.3125 × 8 + 0.1875 × 7 + 0.5 × 2</a:t>
            </a:r>
            <a:br>
              <a:rPr lang="en-US" sz="2000"/>
            </a:br>
            <a:r>
              <a:rPr lang="en-US" sz="2000"/>
              <a:t>= 2.5 + 1.3125 + 1 = 4.8125.</a:t>
            </a:r>
            <a:br>
              <a:rPr lang="en-US" sz="2000"/>
            </a:br>
            <a:r>
              <a:rPr lang="en-US" sz="2000"/>
              <a:t>Eval(Y) = 0.3125 × 5 + 0.1875 × 5 + 0.5 × 8</a:t>
            </a:r>
            <a:br>
              <a:rPr lang="en-US" sz="2000"/>
            </a:br>
            <a:r>
              <a:rPr lang="en-US" sz="2000"/>
              <a:t>= 1.5625 + 0.9375 + 4 = 6.5.</a:t>
            </a:r>
            <a:endParaRPr lang="ru-KZ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51A54-378E-40B1-BC77-BA4DF14300ED}"/>
              </a:ext>
            </a:extLst>
          </p:cNvPr>
          <p:cNvSpPr txBox="1"/>
          <p:nvPr/>
        </p:nvSpPr>
        <p:spPr>
          <a:xfrm>
            <a:off x="269105" y="5038712"/>
            <a:ext cx="7247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MAX енді Y күйін таңдайды. Y-дің өткізу мүмкіндігі 8, X-тікі 2. Осы белгіге берілген салмақ артқанда Y-дің артықшылығы шешуші болады.</a:t>
            </a:r>
            <a:endParaRPr lang="ru-KZ" sz="240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EA50A0E-8E19-468D-811B-A5273F7651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374" y="4876254"/>
            <a:ext cx="2182626" cy="198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38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E5113C-9D47-46B7-85FB-6BF9657CBC71}"/>
              </a:ext>
            </a:extLst>
          </p:cNvPr>
          <p:cNvSpPr txBox="1"/>
          <p:nvPr/>
        </p:nvSpPr>
        <p:spPr>
          <a:xfrm>
            <a:off x="0" y="0"/>
            <a:ext cx="5266267" cy="474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</a:rPr>
              <a:t>Қосымша тапсырма Expectimax</a:t>
            </a:r>
            <a:endParaRPr lang="ru-KZ" sz="2400">
              <a:solidFill>
                <a:schemeClr val="accent5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8AEDB4-A2DC-4AB9-9942-E0A861F7406D}"/>
              </a:ext>
            </a:extLst>
          </p:cNvPr>
          <p:cNvSpPr txBox="1"/>
          <p:nvPr/>
        </p:nvSpPr>
        <p:spPr>
          <a:xfrm>
            <a:off x="0" y="609600"/>
            <a:ext cx="9550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Bookman Old Style" panose="02050604050505020204" pitchFamily="18" charset="0"/>
              </a:rPr>
              <a:t>MIN орнына CHANCE түйіні қолданылады. V(CHANCE) = Σ pᵢ × V(childᵢ). Ықтималдықтар пайда кестесіндегі бағандардың ретіне сәйкес келеді.</a:t>
            </a:r>
            <a:endParaRPr lang="ru-KZ" sz="2000">
              <a:latin typeface="Bookman Old Style" panose="02050604050505020204" pitchFamily="18" charset="0"/>
            </a:endParaRPr>
          </a:p>
          <a:p>
            <a:r>
              <a:rPr lang="en-US" sz="2000">
                <a:latin typeface="Bookman Old Style" panose="02050604050505020204" pitchFamily="18" charset="0"/>
              </a:rPr>
              <a:t>V(A) = 0.2 × 8 + 0.3 × 6 + 0.5 × 4 = 1.6 + 1.8 + 2 = 5.4.</a:t>
            </a:r>
            <a:br>
              <a:rPr lang="en-US" sz="2000">
                <a:latin typeface="Bookman Old Style" panose="02050604050505020204" pitchFamily="18" charset="0"/>
              </a:rPr>
            </a:br>
            <a:r>
              <a:rPr lang="en-US" sz="2000">
                <a:latin typeface="Bookman Old Style" panose="02050604050505020204" pitchFamily="18" charset="0"/>
              </a:rPr>
              <a:t>V(B) = 0.2 × 3 + 0.5 × 7 + 0.3 × 5 = 0.6 + 3.5 + 1.5 = 5.6.</a:t>
            </a:r>
            <a:br>
              <a:rPr lang="en-US" sz="2000">
                <a:latin typeface="Bookman Old Style" panose="02050604050505020204" pitchFamily="18" charset="0"/>
              </a:rPr>
            </a:br>
            <a:r>
              <a:rPr lang="en-US" sz="2000">
                <a:latin typeface="Bookman Old Style" panose="02050604050505020204" pitchFamily="18" charset="0"/>
              </a:rPr>
              <a:t>V(C) = 0.7 × 2 + 0.2 × 9 + 0.1 × 1 = 1.4 + 1.8 + 0.1 = 3.3.</a:t>
            </a:r>
            <a:endParaRPr lang="ru-KZ" sz="2000">
              <a:latin typeface="Bookman Old Style" panose="020506040505050202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4E8C767E-B8BC-4403-9B00-0B8BD0CE6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099954"/>
              </p:ext>
            </p:extLst>
          </p:nvPr>
        </p:nvGraphicFramePr>
        <p:xfrm>
          <a:off x="152401" y="2376281"/>
          <a:ext cx="8974773" cy="23452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91591">
                  <a:extLst>
                    <a:ext uri="{9D8B030D-6E8A-4147-A177-3AD203B41FA5}">
                      <a16:colId xmlns:a16="http://schemas.microsoft.com/office/drawing/2014/main" val="3658211760"/>
                    </a:ext>
                  </a:extLst>
                </a:gridCol>
                <a:gridCol w="2991591">
                  <a:extLst>
                    <a:ext uri="{9D8B030D-6E8A-4147-A177-3AD203B41FA5}">
                      <a16:colId xmlns:a16="http://schemas.microsoft.com/office/drawing/2014/main" val="1108689322"/>
                    </a:ext>
                  </a:extLst>
                </a:gridCol>
                <a:gridCol w="2991591">
                  <a:extLst>
                    <a:ext uri="{9D8B030D-6E8A-4147-A177-3AD203B41FA5}">
                      <a16:colId xmlns:a16="http://schemas.microsoft.com/office/drawing/2014/main" val="341882682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Стратегия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Ықтималдықтар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Күтілетін пайда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832908"/>
                  </a:ext>
                </a:extLst>
              </a:tr>
              <a:tr h="5545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0.2, 0.3, 0.5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5.4 млн теңге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797465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0.2, 0.5, 0.3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5.6 млн теңге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241464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ru-KZ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0.7, 0.2, 0.1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2000">
                          <a:effectLst/>
                        </a:rPr>
                        <a:t>3.3 млн теңге</a:t>
                      </a:r>
                      <a:endParaRPr lang="ru-KZ" sz="2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5743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FB1DD3-8960-4CEB-B5E3-7A0EA7E77442}"/>
              </a:ext>
            </a:extLst>
          </p:cNvPr>
          <p:cNvSpPr txBox="1"/>
          <p:nvPr/>
        </p:nvSpPr>
        <p:spPr>
          <a:xfrm>
            <a:off x="152401" y="4924961"/>
            <a:ext cx="11108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latin typeface="Bookman Old Style" panose="02050604050505020204" pitchFamily="18" charset="0"/>
              </a:rPr>
              <a:t>Expectimax B стратегиясын таңдайды; кіріспедегі Minimax A стратегиясын таңдайды. Minimax ең қолайсыз нәтижені, Expectimax ықтималдықтар бойынша орташа пайданы ескереді. Күтілетін пайда бір нақты ойындағы пайдаға кепілдік бермейді.</a:t>
            </a:r>
            <a:endParaRPr lang="ru-KZ" sz="2000">
              <a:latin typeface="Bookman Old Style" panose="020506040505050202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20AE355-A5B0-47F4-9D50-860300AFD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728" y="0"/>
            <a:ext cx="2272272" cy="189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92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C26424-A8C3-4EDA-8B83-053B9D3B4FC5}"/>
              </a:ext>
            </a:extLst>
          </p:cNvPr>
          <p:cNvSpPr txBox="1"/>
          <p:nvPr/>
        </p:nvSpPr>
        <p:spPr>
          <a:xfrm>
            <a:off x="0" y="0"/>
            <a:ext cx="546946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</a:rPr>
              <a:t>Ойлануға арналған сұрақтар</a:t>
            </a:r>
            <a:endParaRPr lang="ru-KZ" sz="2800">
              <a:solidFill>
                <a:schemeClr val="accent5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endParaRPr lang="ru-KZ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F0548-04B2-470F-92FF-4A1349251FE4}"/>
              </a:ext>
            </a:extLst>
          </p:cNvPr>
          <p:cNvSpPr txBox="1"/>
          <p:nvPr/>
        </p:nvSpPr>
        <p:spPr>
          <a:xfrm>
            <a:off x="0" y="643466"/>
            <a:ext cx="10549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highlight>
                  <a:srgbClr val="FFFF00"/>
                </a:highlight>
                <a:latin typeface="Bookman Old Style" panose="02050604050505020204" pitchFamily="18" charset="0"/>
              </a:rPr>
              <a:t>1. Alpha–Beta неге сол шешімді қайтарады?</a:t>
            </a:r>
            <a:br>
              <a:rPr lang="en-US" sz="2400">
                <a:latin typeface="Bookman Old Style" panose="02050604050505020204" pitchFamily="18" charset="0"/>
              </a:rPr>
            </a:br>
            <a:r>
              <a:rPr lang="en-US" sz="2400">
                <a:latin typeface="Georgia" panose="02040502050405020303" pitchFamily="18" charset="0"/>
              </a:rPr>
              <a:t>Ол ата-ананың таңдауын жақсарта алмайтын бұтақтарды ғана қияды. Сондықтан түбірдің Minimax мәні сақталады.</a:t>
            </a:r>
            <a:endParaRPr lang="ru-KZ" sz="240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35BDF0-4603-4EAC-A5CC-DAA3DCB98518}"/>
              </a:ext>
            </a:extLst>
          </p:cNvPr>
          <p:cNvSpPr txBox="1"/>
          <p:nvPr/>
        </p:nvSpPr>
        <p:spPr>
          <a:xfrm>
            <a:off x="0" y="1936928"/>
            <a:ext cx="10549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highlight>
                  <a:srgbClr val="FFFF00"/>
                </a:highlight>
                <a:latin typeface="Bookman Old Style" panose="02050604050505020204" pitchFamily="18" charset="0"/>
              </a:rPr>
              <a:t>2. Рекурсивті шақырулар саны нені көрсетеді?</a:t>
            </a:r>
            <a:br>
              <a:rPr lang="en-US" sz="2400">
                <a:highlight>
                  <a:srgbClr val="FFFF00"/>
                </a:highlight>
                <a:latin typeface="Bookman Old Style" panose="02050604050505020204" pitchFamily="18" charset="0"/>
              </a:rPr>
            </a:br>
            <a:r>
              <a:rPr lang="en-US" sz="2400">
                <a:latin typeface="Georgia" panose="02040502050405020303" pitchFamily="18" charset="0"/>
              </a:rPr>
              <a:t>Өңделген түйіндер санын көрсетеді. Бірақ нақты уақытты жад шығынын және әр түйінді өңдеу құнын толық сипаттамайды</a:t>
            </a:r>
            <a:r>
              <a:rPr lang="en-US" sz="2400">
                <a:latin typeface="Bookman Old Style" panose="02050604050505020204" pitchFamily="18" charset="0"/>
              </a:rPr>
              <a:t>.</a:t>
            </a:r>
            <a:endParaRPr lang="ru-KZ" sz="2400"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0D7C5-D2CF-432F-B268-1E8B12BB7BC7}"/>
              </a:ext>
            </a:extLst>
          </p:cNvPr>
          <p:cNvSpPr txBox="1"/>
          <p:nvPr/>
        </p:nvSpPr>
        <p:spPr>
          <a:xfrm>
            <a:off x="0" y="3230390"/>
            <a:ext cx="934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highlight>
                  <a:srgbClr val="FFFF00"/>
                </a:highlight>
                <a:latin typeface="Bookman Old Style" panose="02050604050505020204" pitchFamily="18" charset="0"/>
              </a:rPr>
              <a:t>3. Жүрісті болжау қарсыласты түсіну ме?</a:t>
            </a:r>
            <a:br>
              <a:rPr lang="en-US" sz="2400">
                <a:highlight>
                  <a:srgbClr val="FFFF00"/>
                </a:highlight>
                <a:latin typeface="Bookman Old Style" panose="02050604050505020204" pitchFamily="18" charset="0"/>
              </a:rPr>
            </a:br>
            <a:r>
              <a:rPr lang="en-US" sz="2400">
                <a:latin typeface="Georgia" panose="02040502050405020303" pitchFamily="18" charset="0"/>
              </a:rPr>
              <a:t>Міндетті түрде емес. Алгоритм қабылданған модельге сүйенеді дұрыс болжам қарсыластың мақсаттары мен мінез-құлқын толық түсінуді дәлелдемейді.</a:t>
            </a:r>
            <a:endParaRPr lang="ru-KZ" sz="2400">
              <a:latin typeface="Georgia" panose="02040502050405020303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973A70-80C4-496E-9CAA-ACF7CEA116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163" y="-21988"/>
            <a:ext cx="2128837" cy="183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63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1DE273-D720-41F6-AB7A-DEC3A24EFE3D}"/>
              </a:ext>
            </a:extLst>
          </p:cNvPr>
          <p:cNvSpPr txBox="1"/>
          <p:nvPr/>
        </p:nvSpPr>
        <p:spPr>
          <a:xfrm>
            <a:off x="0" y="0"/>
            <a:ext cx="97894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sz="2800"/>
              <a:t>А қосымшасы</a:t>
            </a:r>
            <a:br>
              <a:rPr lang="kk-KZ" sz="2800">
                <a:hlinkClick r:id="rId2"/>
              </a:rPr>
            </a:br>
            <a:r>
              <a:rPr lang="en-US" sz="2800">
                <a:hlinkClick r:id="rId2"/>
              </a:rPr>
              <a:t>https://colab.research.google.com/drive/1Igt3L_Z0P7GKTJt3Ll-OQ5uZiqdcItSh?usp=sharing</a:t>
            </a:r>
            <a:endParaRPr lang="ru-KZ" sz="2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83FC2-081C-48F1-A8EF-56ECBCAEEBBC}"/>
              </a:ext>
            </a:extLst>
          </p:cNvPr>
          <p:cNvSpPr txBox="1"/>
          <p:nvPr/>
        </p:nvSpPr>
        <p:spPr>
          <a:xfrm>
            <a:off x="0" y="1541929"/>
            <a:ext cx="113493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sz="2800"/>
              <a:t>В қосымшасы</a:t>
            </a:r>
            <a:br>
              <a:rPr lang="kk-KZ" sz="2800"/>
            </a:br>
            <a:r>
              <a:rPr lang="en-US" sz="2800">
                <a:hlinkClick r:id="rId3"/>
              </a:rPr>
              <a:t>https://colab.research.google.com/drive/1RESC-npJdOej6uX7_S4FbnpbuO7IRa57?usp=sharing</a:t>
            </a:r>
            <a:endParaRPr lang="ru-KZ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30172-A738-470C-A372-1B5519A934C5}"/>
              </a:ext>
            </a:extLst>
          </p:cNvPr>
          <p:cNvSpPr txBox="1"/>
          <p:nvPr/>
        </p:nvSpPr>
        <p:spPr>
          <a:xfrm>
            <a:off x="0" y="3083858"/>
            <a:ext cx="90005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sz="2800"/>
              <a:t>С қосымшасы</a:t>
            </a:r>
            <a:br>
              <a:rPr lang="kk-KZ" sz="2800"/>
            </a:br>
            <a:r>
              <a:rPr lang="en-US" sz="2800">
                <a:hlinkClick r:id="rId4"/>
              </a:rPr>
              <a:t>https://colab.research.google.com/drive/1cwZ-7CIMtBQwu3LHNLbq86GI3_ECro5a?usp=sharing</a:t>
            </a:r>
            <a:endParaRPr lang="ru-KZ" sz="280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B48714F-BC70-4817-96FA-E8D09B22E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163" y="1"/>
            <a:ext cx="212883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477465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287</TotalTime>
  <Words>1300</Words>
  <Application>Microsoft Office PowerPoint</Application>
  <PresentationFormat>Широкоэкранный</PresentationFormat>
  <Paragraphs>234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Arial</vt:lpstr>
      <vt:lpstr>Artifakt Element Black</vt:lpstr>
      <vt:lpstr>Book Antiqua</vt:lpstr>
      <vt:lpstr>Bookman Old Style</vt:lpstr>
      <vt:lpstr>Cambria</vt:lpstr>
      <vt:lpstr>Cambria Math</vt:lpstr>
      <vt:lpstr>Century Schoolbook</vt:lpstr>
      <vt:lpstr>Georgia</vt:lpstr>
      <vt:lpstr>Tahoma</vt:lpstr>
      <vt:lpstr>Wingdings 2</vt:lpstr>
      <vt:lpstr>Вид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Нұрғиса Насрулла</dc:creator>
  <cp:lastModifiedBy>Нұрғиса Насрулла</cp:lastModifiedBy>
  <cp:revision>3</cp:revision>
  <dcterms:created xsi:type="dcterms:W3CDTF">2026-09-30T10:08:27Z</dcterms:created>
  <dcterms:modified xsi:type="dcterms:W3CDTF">2026-10-01T14:54:56Z</dcterms:modified>
</cp:coreProperties>
</file>